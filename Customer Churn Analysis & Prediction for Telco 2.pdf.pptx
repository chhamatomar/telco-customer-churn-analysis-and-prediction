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4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7C7C-A6C8-48FD-BA56-2806801E1DE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E7D6-6EA4-4FD1-A14E-1F8EBD3DA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063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7C7C-A6C8-48FD-BA56-2806801E1DE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E7D6-6EA4-4FD1-A14E-1F8EBD3DA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19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7C7C-A6C8-48FD-BA56-2806801E1DE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E7D6-6EA4-4FD1-A14E-1F8EBD3DA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20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7C7C-A6C8-48FD-BA56-2806801E1DE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E7D6-6EA4-4FD1-A14E-1F8EBD3DA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580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7C7C-A6C8-48FD-BA56-2806801E1DE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E7D6-6EA4-4FD1-A14E-1F8EBD3DA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81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7C7C-A6C8-48FD-BA56-2806801E1DE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E7D6-6EA4-4FD1-A14E-1F8EBD3DA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68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7C7C-A6C8-48FD-BA56-2806801E1DE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E7D6-6EA4-4FD1-A14E-1F8EBD3DA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41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7C7C-A6C8-48FD-BA56-2806801E1DE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E7D6-6EA4-4FD1-A14E-1F8EBD3DA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65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7C7C-A6C8-48FD-BA56-2806801E1DE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E7D6-6EA4-4FD1-A14E-1F8EBD3DA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683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7C7C-A6C8-48FD-BA56-2806801E1DE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E7D6-6EA4-4FD1-A14E-1F8EBD3DA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7C7C-A6C8-48FD-BA56-2806801E1DE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E7D6-6EA4-4FD1-A14E-1F8EBD3DA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00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07C7C-A6C8-48FD-BA56-2806801E1DE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FE7D6-6EA4-4FD1-A14E-1F8EBD3DA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7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9569"/>
            <a:ext cx="9144000" cy="1676400"/>
          </a:xfrm>
        </p:spPr>
        <p:txBody>
          <a:bodyPr>
            <a:normAutofit fontScale="90000"/>
          </a:bodyPr>
          <a:lstStyle/>
          <a:p>
            <a:r>
              <a:rPr lang="en-US" i="1" dirty="0" smtClean="0"/>
              <a:t>“Customer Churn Analysis &amp; Prediction for Telco”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46869" y="6286249"/>
            <a:ext cx="3936274" cy="441124"/>
          </a:xfrm>
        </p:spPr>
        <p:txBody>
          <a:bodyPr>
            <a:normAutofit/>
          </a:bodyPr>
          <a:lstStyle/>
          <a:p>
            <a:r>
              <a:rPr lang="en-US" dirty="0" smtClean="0"/>
              <a:t>Presented By : </a:t>
            </a:r>
            <a:r>
              <a:rPr lang="en-US" dirty="0" err="1" smtClean="0"/>
              <a:t>Chhama</a:t>
            </a:r>
            <a:r>
              <a:rPr lang="en-US" dirty="0" smtClean="0"/>
              <a:t> </a:t>
            </a:r>
            <a:r>
              <a:rPr lang="en-US" dirty="0" err="1" smtClean="0"/>
              <a:t>Tomar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753" y="2778369"/>
            <a:ext cx="4734586" cy="302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534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9195" y="1690688"/>
            <a:ext cx="10515600" cy="941021"/>
          </a:xfrm>
        </p:spPr>
        <p:txBody>
          <a:bodyPr/>
          <a:lstStyle/>
          <a:p>
            <a:r>
              <a:rPr lang="en-US" dirty="0" smtClean="0"/>
              <a:t>“Customer churn is a major problem for telecom companies as retaining a customer is cheaper than acquiring a new one.”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259" y="2901583"/>
            <a:ext cx="5963482" cy="334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4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Objective:-</a:t>
            </a: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81447" y="1579146"/>
            <a:ext cx="931398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key factors behind churn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ML model to predict churn probability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 business strategies to reduce churn</a:t>
            </a:r>
          </a:p>
        </p:txBody>
      </p:sp>
    </p:spTree>
    <p:extLst>
      <p:ext uri="{BB962C8B-B14F-4D97-AF65-F5344CB8AC3E}">
        <p14:creationId xmlns:p14="http://schemas.microsoft.com/office/powerpoint/2010/main" val="329364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Overview:-</a:t>
            </a:r>
            <a:endParaRPr lang="en-US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40035" y="1509900"/>
            <a:ext cx="945453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Churn (Yes/No)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 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demographics (gender, senior citizen, partner, dependents)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Services (internet, phone, contract, payment method)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Charges (monthly, total charges)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Tenure</a:t>
            </a:r>
          </a:p>
        </p:txBody>
      </p:sp>
    </p:spTree>
    <p:extLst>
      <p:ext uri="{BB962C8B-B14F-4D97-AF65-F5344CB8AC3E}">
        <p14:creationId xmlns:p14="http://schemas.microsoft.com/office/powerpoint/2010/main" val="136259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Exploratory Data Analysis (EDA) Insights:-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69667"/>
          </a:xfrm>
        </p:spPr>
        <p:txBody>
          <a:bodyPr/>
          <a:lstStyle/>
          <a:p>
            <a:r>
              <a:rPr lang="en-US" b="1" dirty="0" smtClean="0"/>
              <a:t>Churn Rate</a:t>
            </a:r>
            <a:r>
              <a:rPr lang="en-US" dirty="0" smtClean="0"/>
              <a:t>: Around </a:t>
            </a:r>
            <a:r>
              <a:rPr lang="en-US" i="1" dirty="0" smtClean="0"/>
              <a:t>26% customers churned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631" y="2379785"/>
            <a:ext cx="4900246" cy="406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43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815" y="1113693"/>
            <a:ext cx="10837985" cy="5063270"/>
          </a:xfrm>
        </p:spPr>
        <p:txBody>
          <a:bodyPr/>
          <a:lstStyle/>
          <a:p>
            <a:r>
              <a:rPr lang="en-US" b="1" dirty="0" smtClean="0"/>
              <a:t>Tenure vs Churn</a:t>
            </a:r>
            <a:r>
              <a:rPr lang="en-US" dirty="0" smtClean="0"/>
              <a:t>: Short tenure customers are more likely to churn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308" y="2133599"/>
            <a:ext cx="5509846" cy="429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63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2102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646" y="973015"/>
            <a:ext cx="10873154" cy="5203948"/>
          </a:xfrm>
        </p:spPr>
        <p:txBody>
          <a:bodyPr/>
          <a:lstStyle/>
          <a:p>
            <a:r>
              <a:rPr lang="en-US" b="1" dirty="0" smtClean="0"/>
              <a:t>Contract Type</a:t>
            </a:r>
            <a:r>
              <a:rPr lang="en-US" dirty="0" smtClean="0"/>
              <a:t>: Month-to-month contracts have highest churn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6" y="1919076"/>
            <a:ext cx="6601605" cy="394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44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8586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7477"/>
            <a:ext cx="10515600" cy="4969486"/>
          </a:xfrm>
        </p:spPr>
        <p:txBody>
          <a:bodyPr/>
          <a:lstStyle/>
          <a:p>
            <a:r>
              <a:rPr lang="en-US" b="1" dirty="0" smtClean="0"/>
              <a:t>Payment Method</a:t>
            </a:r>
            <a:r>
              <a:rPr lang="en-US" dirty="0" smtClean="0"/>
              <a:t>: Customers paying via electronic check churn more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176" y="1964404"/>
            <a:ext cx="5277587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04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2653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5754"/>
            <a:ext cx="10515600" cy="4981209"/>
          </a:xfrm>
        </p:spPr>
        <p:txBody>
          <a:bodyPr/>
          <a:lstStyle/>
          <a:p>
            <a:r>
              <a:rPr lang="en-US" b="1" dirty="0" smtClean="0"/>
              <a:t>Monthly Charges</a:t>
            </a:r>
            <a:r>
              <a:rPr lang="en-US" dirty="0" smtClean="0"/>
              <a:t>: Higher charges = higher churn probability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463" y="2004646"/>
            <a:ext cx="4677506" cy="386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02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05767"/>
          </a:xfrm>
        </p:spPr>
        <p:txBody>
          <a:bodyPr>
            <a:normAutofit/>
          </a:bodyPr>
          <a:lstStyle/>
          <a:p>
            <a:r>
              <a:rPr lang="en-US" b="1" dirty="0" smtClean="0"/>
              <a:t>Data Preprocessing:-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70892"/>
            <a:ext cx="105156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Encoding categorical variables (One-Hot, Label Encoding)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Train-test split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180" y="2939375"/>
            <a:ext cx="5839640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834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Building:-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51634" y="1504827"/>
            <a:ext cx="1002072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Algorithms Tried : SVM(support vector machine)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, Random Forest , Decision Tree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Metrics: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Accuracy,Recall,F1-score,precision,confusion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matrix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Arial" panose="020B0604020202020204" pitchFamily="34" charset="0"/>
              </a:rPr>
              <a:t>Evaluation for SVM:-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Arial" panose="020B0604020202020204" pitchFamily="34" charset="0"/>
              </a:rPr>
              <a:t>Accuracy:76.29%                 F1-score:62.38%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Arial" panose="020B0604020202020204" pitchFamily="34" charset="0"/>
              </a:rPr>
              <a:t>Recall     :74.26%                 Precision:53.78%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Arial" panose="020B0604020202020204" pitchFamily="34" charset="0"/>
              </a:rPr>
              <a:t>Evaluation for Random Forest:-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Arial" panose="020B0604020202020204" pitchFamily="34" charset="0"/>
              </a:rPr>
              <a:t>Accuracy:77.43%	   F1-score:60.74%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Arial" panose="020B0604020202020204" pitchFamily="34" charset="0"/>
              </a:rPr>
              <a:t>Recall     :65.95% 	   Precision:56.29%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Arial" panose="020B0604020202020204" pitchFamily="34" charset="0"/>
              </a:rPr>
              <a:t>Evaluation for Decision Tree:-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Arial" panose="020B0604020202020204" pitchFamily="34" charset="0"/>
              </a:rPr>
              <a:t>Accuracy:73.24%	   F1-score:54.41%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Arial" panose="020B0604020202020204" pitchFamily="34" charset="0"/>
              </a:rPr>
              <a:t>Recall     :60.32%	   Precision:49.55%</a:t>
            </a:r>
            <a:endParaRPr lang="en-US" altLang="en-US" sz="24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57976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SVM(support vector machine) is doing good because it has the highest recall value.</a:t>
            </a:r>
          </a:p>
          <a:p>
            <a:r>
              <a:rPr lang="en-US" dirty="0" smtClean="0"/>
              <a:t>In Churn prediction ,Recall is </a:t>
            </a:r>
            <a:r>
              <a:rPr lang="en-US" dirty="0"/>
              <a:t>highly </a:t>
            </a:r>
            <a:r>
              <a:rPr lang="en-US" dirty="0" smtClean="0"/>
              <a:t>prioritized ,because </a:t>
            </a:r>
            <a:r>
              <a:rPr lang="en-US" dirty="0"/>
              <a:t>missing a churn customer leads to revenue loss, whereas false positives are comparatively less </a:t>
            </a:r>
            <a:r>
              <a:rPr lang="en-US" dirty="0" smtClean="0"/>
              <a:t>costly.”</a:t>
            </a:r>
          </a:p>
          <a:p>
            <a:r>
              <a:rPr lang="en-US" dirty="0" smtClean="0"/>
              <a:t>Recall &gt; F1-score &gt; Precision &gt; Accuracy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48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Business Insights:-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32693" y="1639727"/>
            <a:ext cx="1058174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with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month-to-month contracts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churn more → Encourage long-term contracts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with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monthly charges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churn more → Provide discounts or bundled plans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using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electronic check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Promote auto-payment / credit card payment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tenure customers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churn more → Improve onboarding experience</a:t>
            </a:r>
          </a:p>
        </p:txBody>
      </p:sp>
    </p:spTree>
    <p:extLst>
      <p:ext uri="{BB962C8B-B14F-4D97-AF65-F5344CB8AC3E}">
        <p14:creationId xmlns:p14="http://schemas.microsoft.com/office/powerpoint/2010/main" val="158248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Recommendations:-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56995" y="1568174"/>
            <a:ext cx="736284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Loyalty programs for long-term customers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offers for high-churn segments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support for senior citizens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 auto-pay &amp; paperless billing</a:t>
            </a:r>
          </a:p>
        </p:txBody>
      </p:sp>
    </p:spTree>
    <p:extLst>
      <p:ext uri="{BB962C8B-B14F-4D97-AF65-F5344CB8AC3E}">
        <p14:creationId xmlns:p14="http://schemas.microsoft.com/office/powerpoint/2010/main" val="337625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366</Words>
  <Application>Microsoft Office PowerPoint</Application>
  <PresentationFormat>Widescreen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“Customer Churn Analysis &amp; Prediction for Telco”</vt:lpstr>
      <vt:lpstr>Problem statement:</vt:lpstr>
      <vt:lpstr>Objective:-</vt:lpstr>
      <vt:lpstr>Dataset Overview:-</vt:lpstr>
      <vt:lpstr>Exploratory Data Analysis (EDA) Insights:-</vt:lpstr>
      <vt:lpstr>PowerPoint Presentation</vt:lpstr>
      <vt:lpstr>PowerPoint Presentation</vt:lpstr>
      <vt:lpstr>PowerPoint Presentation</vt:lpstr>
      <vt:lpstr>PowerPoint Presentation</vt:lpstr>
      <vt:lpstr>Data Preprocessing:-</vt:lpstr>
      <vt:lpstr>Model Building:-</vt:lpstr>
      <vt:lpstr>PowerPoint Presentation</vt:lpstr>
      <vt:lpstr>Key Business Insights:-</vt:lpstr>
      <vt:lpstr>Recommendations:-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“Customer Churn Analysis &amp; Prediction for Telco”</dc:title>
  <dc:creator>Prashant</dc:creator>
  <cp:lastModifiedBy>Prashant</cp:lastModifiedBy>
  <cp:revision>14</cp:revision>
  <dcterms:created xsi:type="dcterms:W3CDTF">2025-10-03T06:44:54Z</dcterms:created>
  <dcterms:modified xsi:type="dcterms:W3CDTF">2026-01-15T13:58:03Z</dcterms:modified>
</cp:coreProperties>
</file>